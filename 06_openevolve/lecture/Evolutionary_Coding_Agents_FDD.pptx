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 total. Aim: 24 min talk + 5 min demo/questions.
Open cold with the number on the next slide — do not introduce yourself first, do it after the hook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Say the number, pause, then explain. The punchline is the last line: the human contribution moved from writing the algorithm to writing the evaluation.
Don't over-claim: AlphaTensor's 47 is mod-2 — flag it, the audience will contain someone who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This replaces the tweet-wall: three dated, checkable facts beat twenty screenshots and won't age badly.
Ask the question out loud and let it hang for 5 seconds — it is the thesis of the whole talk (answer: mostly the second).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Move fast. This slide exists so people can locate themselves later, not to be read aloud in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Draw the loop verbally as you go: sample, mutate, evaluate, store.
The key framing to plant here: the human writes the score, not the solution. Everything later hangs off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This is the conceptual centre of the lecture — if they remember one slide, make it this one.
The line that lands: 'hallucination stops being a failure mode and becomes the exploration budget'.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Fast slide. Point out that ThetaEvolve reaches state of the art on some AlphaEvolve problems with an 8B open-weight model — that matters for anyone in the room without a Google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Stress the third bullet — interpretability is the reason Google can actually deploy the Borg scheduler result. A neural controller could not have been shipped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Walk the six pseudocode lines out loud — sample, build, generate, apply, execute, add. That is the entire system.
Then the punchline: three of the four boxes are generic. Only the evaluator is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This is the slide people photograph. Keep the code on screen while you talk.
Mention the diff format: the LLM emits SEARCH/REPLACE blocks, not whole files, which is why it scales to real codebases.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Mouret &amp; Clune (2015) for MAP-Elites, Tanese (1989) for islands — both pre-LLM. Worth saying: the evolutionary machinery here is 30 years old and unmodified.
OpenEvolve's default: 5 islands, population 500, ring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artifacts channel is the most underrated feature — it is what makes the thing feel like a competent engineer rather than a random generator.
OpenEvolve implements everything here except meta-prompt 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Put the original ablation figure here if you want the plot itself — I've written the reading of it, which is what the audience needs either way.
Set up the tension for slide 17: these ablations compare AlphaEvolve to crippled AlphaEvolve. Nobody compared it to a dumb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The audience will want to know if these are 'real'. Gómez-Serrano's framing is the best answer: any single one of these could have been found by a domain expert in a few months; they got comparable results across many fields in a day or two.
Also worth one sentence: a finite-field Kakeya construction from AlphaEvolve was proved by Deep Think and formalised in Lean by AlphaProof — a full discovery-to-verification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This is the slide that shows the field moved past the paper you're teaching. Good for credibility.
If pressed for time, this is the first slide to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Pick two or three, don't read all six. The Borg one is the strongest for this audience: a small percentage of an enormous number, delivered as readable code an SRE can review.
If someone asks about money: press coverage estimates the 0.7% at several hundred million dollars a year, but Google has not published a figure — flag that as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Do not rush this. It is the difference between a lecture and a product demo, and it is what a room of ETH people will respect.
The honest synthesis: the loop is a convenience, the evaluator is the science. That sets up the checklist perfectly.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This is the slide the FDD audience takes back to work. Slow down, let them write it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Config knobs worth naming out loud: num_islands, migration_interval, exploitation_ratio, feature_dimensions. Everything else is defaults.
Set up the demo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Land on point 5 — it is the honest one and it leaves the audience with the right mental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4 minutes. Sum of radii for 26 circles is a good demo because the visual output is immediately legible — people see the packing, not a number.
Strongly consider a screen recording instead of a live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4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Evolutionary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AlphaEvolve, OpenEvolve, and what happens when you let a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mutate code against a scoreboard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28016" cy="128016"/>
          </a:xfrm>
          <a:prstGeom prst="rect">
            <a:avLst/>
          </a:prstGeom>
          <a:solidFill>
            <a:srgbClr val="007894"/>
          </a:solidFill>
          <a:ln w="12700">
            <a:solidFill>
              <a:srgbClr val="007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325880"/>
            <a:ext cx="128016" cy="128016"/>
          </a:xfrm>
          <a:prstGeom prst="rect">
            <a:avLst/>
          </a:prstGeom>
          <a:solidFill>
            <a:srgbClr val="5C8AC7"/>
          </a:solidFill>
          <a:ln w="12700">
            <a:solidFill>
              <a:srgbClr val="5C8A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325880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Sânziana  ·  ETH Zürich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FDD — From Data to Decisions  ·  FS26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90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multiplications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multiply two 4×4 complex matrices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188720"/>
            <a:ext cx="5696712" cy="4297680"/>
          </a:xfrm>
          <a:prstGeom prst="roundRect">
            <a:avLst>
              <a:gd name="adj" fmla="val 12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160934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Strassen's recursion gives 49 for this setting.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 →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26151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years. No improvement in the complex case.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17920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3621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LLM-driven evolutionary search writes the program that finds 48.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4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wrote the algorithm. Somebody wrote the score.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AlphaTensor previously reached 47 in mod-2 arithmetic; 48 is the first improvement in the complex-valued setting.  Novikov et al., 2025.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months, three receipts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lab demo any more — a paper, a chip, and a product SKU.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11296" cy="2926080"/>
          </a:xfrm>
          <a:prstGeom prst="roundRect">
            <a:avLst>
              <a:gd name="adj" fmla="val 187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86000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78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open problems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40156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Georgiev, Gómez-Serrano, Tao &amp; Wagner run AlphaEvolve over 67 problems in analysis, combinatorics, geometry, number theory. Improved on 23, matched 36.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11296" cy="2926080"/>
          </a:xfrm>
          <a:prstGeom prst="roundRect">
            <a:avLst>
              <a:gd name="adj" fmla="val 187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128016" cy="128016"/>
          </a:xfrm>
          <a:prstGeom prst="rect">
            <a:avLst/>
          </a:prstGeom>
          <a:solidFill>
            <a:srgbClr val="007894"/>
          </a:solidFill>
          <a:ln w="12700">
            <a:solidFill>
              <a:srgbClr val="007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78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silicon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340156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Dean: AlphaEvolve proposed a circuit design "so counterintuitive yet efficient" it was integrated directly into next-generation TPUs.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11296" cy="2926080"/>
          </a:xfrm>
          <a:prstGeom prst="roundRect">
            <a:avLst>
              <a:gd name="adj" fmla="val 187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286000"/>
            <a:ext cx="128016" cy="128016"/>
          </a:xfrm>
          <a:prstGeom prst="rect">
            <a:avLst/>
          </a:prstGeom>
          <a:solidFill>
            <a:srgbClr val="627313"/>
          </a:solidFill>
          <a:ln w="12700">
            <a:solidFill>
              <a:srgbClr val="6273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578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Generally available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40156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to every Google Cloud customer on the Gemini Enterprise Agent Platform. Evaluators run client-side; your code never leaves your infra.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84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 you: what changed — the models, or the way we point them at problems?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0" y="1929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but the mutation operator has read the literature.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7066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AlphaEvolve's four components, and what each one buys you.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34838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Mathematics, infrastructure, industry — and the ablations.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97680" y="42611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fails, and a paper that says the loop barely matters.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50383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OpenEvolve, a checklist, and a live run.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four verbs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talk is an implementation detail of this diagram.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22402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15C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340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6243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parent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archive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349300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007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38770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47548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6273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855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5138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get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49300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8E67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8770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if it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a slot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651760"/>
            <a:ext cx="109728" cy="713232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79008" y="4498848"/>
            <a:ext cx="-109728" cy="438912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91840" y="4937760"/>
            <a:ext cx="-109728" cy="-438912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82112" y="3364992"/>
            <a:ext cx="109728" cy="-713232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965960"/>
            <a:ext cx="3364992" cy="3794760"/>
          </a:xfrm>
          <a:prstGeom prst="roundRect">
            <a:avLst>
              <a:gd name="adj" fmla="val 163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240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things a human supplies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3026664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0808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seed program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50808" y="3264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working baseline, however bad.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03920" y="4032504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scoring function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50808" y="42702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deterministic-ish, and honest.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03920" y="4983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84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supplies the "how".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84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ownership of the "what".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programming had this loop in 1992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is the mutation operator — and the arithmetic of trust.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6F7F4"/>
          </a:solidFill>
          <a:ln w="12700">
            <a:solidFill>
              <a:srgbClr val="F6F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mutation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a syntax tree at random. Valid code, but semantically blind. Needs enormous populations, and it cannot use anything anyone has ever written about your problem.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85232" cy="2148840"/>
          </a:xfrm>
          <a:prstGeom prst="roundRect">
            <a:avLst>
              <a:gd name="adj" fmla="val 255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mutation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57860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edits that are plausible given the code's meaning and the whole scientific literature. Feed it a PDF of the relevant paper and the proposals get better. It is a prior over useful directions.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08407E"/>
          </a:solidFill>
          <a:ln w="12700">
            <a:solidFill>
              <a:srgbClr val="084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617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generator–verifier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9834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creative and unreliable. Verification is cheap and exact. Evolution is the wrapper that converts the first into the second: bad mutations are simply outscored and pruned, while a few wild ones supply the diversity that escapes a local optimum. Hallucination stops being a failure mode and becomes the exploration budget.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after T. Tao, "Mathematical exploration and discovery at scale" (blog, Nov 2025).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three-year lineage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9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FunSearch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83480" y="1911096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Nature. Evolves a single Python function. Cap set problem, online bin packing. Proof of concept that an LLM can produce new, provably correct mathematical knowledge.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300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AlphaEvolve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3282696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files instead of functions. Diff-based edits, an LLM ensemble (fast + strong), multiple metrics, evolved meta-prompts. Closed source.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672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ecosystem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4654296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OpenEvolve, ShinkaEvolve, CodeEvolve, GigaEvo, ThetaEvolve, DeepEvolve. Reproductions, sample-efficiency tricks, and open-weight backbones at ~1/10 the cost.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generalised faster than the results did. That is usually a sign the recipe is the contribution.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MACHINE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contract: you define "what", it figures out "how"</a:t>
            </a:r>
            <a:endParaRPr lang="en-US" sz="3200" dirty="0"/>
          </a:p>
        </p:txBody>
      </p:sp>
      <p:pic>
        <p:nvPicPr>
          <p:cNvPr id="5" name="Image 0" descr="/home/claude/fig/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720840" cy="45628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417320"/>
            <a:ext cx="3776472" cy="4023360"/>
          </a:xfrm>
          <a:prstGeom prst="roundRect">
            <a:avLst>
              <a:gd name="adj" fmla="val 145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this as an interface,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92440" y="2578608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9328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problem definition, the evaluation criteria and the initial solution.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92440" y="3584448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39328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optionally hand over background knowledge — even raw PDFs of the relevant literature.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92440" y="4590288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9328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is human-readable code you can inspect, debug and reject.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Novikov et al., AlphaEvolve white paper (2025), Fig. 1.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MACHINE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lines of pseudocode, four moving parts</a:t>
            </a:r>
            <a:endParaRPr lang="en-US" sz="3200" dirty="0"/>
          </a:p>
        </p:txBody>
      </p:sp>
      <p:pic>
        <p:nvPicPr>
          <p:cNvPr id="5" name="Image 0" descr="/home/claude/fig/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589520" cy="4233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536192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0808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sampler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50808" y="1755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context: parent, rivals, scores, errors.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03920" y="2560320"/>
            <a:ext cx="128016" cy="128016"/>
          </a:xfrm>
          <a:prstGeom prst="rect">
            <a:avLst/>
          </a:prstGeom>
          <a:solidFill>
            <a:srgbClr val="B7352D"/>
          </a:solidFill>
          <a:ln w="12700">
            <a:solidFill>
              <a:srgbClr val="B735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ensemble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50808" y="2779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Cheap+fast for breadth, strong+slow for depth.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03920" y="3584448"/>
            <a:ext cx="128016" cy="128016"/>
          </a:xfrm>
          <a:prstGeom prst="rect">
            <a:avLst/>
          </a:prstGeom>
          <a:solidFill>
            <a:srgbClr val="8E6713"/>
          </a:solidFill>
          <a:ln w="12700">
            <a:solidFill>
              <a:srgbClr val="8E671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50808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Evaluators pool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50808" y="38039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code. The only source of truth.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03920" y="4608576"/>
            <a:ext cx="128016" cy="128016"/>
          </a:xfrm>
          <a:prstGeom prst="rect">
            <a:avLst/>
          </a:prstGeom>
          <a:solidFill>
            <a:srgbClr val="627313"/>
          </a:solidFill>
          <a:ln w="12700">
            <a:solidFill>
              <a:srgbClr val="62731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0808" y="4535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database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50808" y="48280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who gets to reproduce.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03920" y="5532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84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by design: the bottleneck is evaluator throughput, not the LLM.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Novikov et al., AlphaEvolve white paper (2025), Fig. 2.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MACHINE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actually write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files. The markers tell the agent which lines it is allowed to touch.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035040" cy="3611880"/>
          </a:xfrm>
          <a:prstGeom prst="roundRect">
            <a:avLst>
              <a:gd name="adj" fmla="val 1519"/>
            </a:avLst>
          </a:prstGeom>
          <a:solidFill>
            <a:srgbClr val="F4F6F9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---------- initial_program.py ----------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EVOLVE-BLOCK-START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construct(n: int) -&gt; np.ndarray: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a candidate configuration."""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np.random.rand(n, 2)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EVOLVE-BLOCK-END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---------- evaluator.py ----------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evaluate(program_path) -&gt; dict: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cfg = run(program_path)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feasible(cfg):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{"score": 0.0}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{"score": objective(cfg),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"runtime": t, "margin": m}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984248"/>
            <a:ext cx="128016" cy="128016"/>
          </a:xfrm>
          <a:prstGeom prst="rect">
            <a:avLst/>
          </a:prstGeom>
          <a:solidFill>
            <a:srgbClr val="007894"/>
          </a:solidFill>
          <a:ln w="12700">
            <a:solidFill>
              <a:srgbClr val="007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outside the block is scaffolding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22199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Imports, harnesses, plotting, the verifier itself — frozen. The agent cannot cheat by rewriting them.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3218688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dict is the fitness signal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05472" y="345643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metrics are not decoration: optimising several often improves the one you actually care about, because diverse high scorers seed better prompts.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4453128"/>
            <a:ext cx="128016" cy="128016"/>
          </a:xfrm>
          <a:prstGeom prst="rect">
            <a:avLst/>
          </a:prstGeom>
          <a:solidFill>
            <a:srgbClr val="627313"/>
          </a:solidFill>
          <a:ln w="12700">
            <a:solidFill>
              <a:srgbClr val="6273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4389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your evaluator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05472" y="469087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smoke test first, expensive full run only for survivors. This is where your compute budget lives or dies.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MACHINE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is the algorithm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only the best program is how you guarantee a local optimum.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MAP-Elites archive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programs by behaviour (complexity, diversity, runtime…). Each cell keeps its own champion, so a slow-but-clever program is never deleted by a fast-and-dumb one. Competition is local.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520440"/>
            <a:ext cx="402336" cy="402336"/>
          </a:xfrm>
          <a:prstGeom prst="rect">
            <a:avLst/>
          </a:prstGeom>
          <a:solidFill>
            <a:srgbClr val="215CAF"/>
          </a:solidFill>
          <a:ln w="9525">
            <a:solidFill>
              <a:srgbClr val="215C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35204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35204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520440"/>
            <a:ext cx="402336" cy="402336"/>
          </a:xfrm>
          <a:prstGeom prst="rect">
            <a:avLst/>
          </a:prstGeom>
          <a:solidFill>
            <a:srgbClr val="9DB6D8"/>
          </a:solidFill>
          <a:ln w="9525">
            <a:solidFill>
              <a:srgbClr val="9DB6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776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3977640"/>
            <a:ext cx="402336" cy="402336"/>
          </a:xfrm>
          <a:prstGeom prst="rect">
            <a:avLst/>
          </a:prstGeom>
          <a:solidFill>
            <a:srgbClr val="9DB6D8"/>
          </a:solidFill>
          <a:ln w="9525">
            <a:solidFill>
              <a:srgbClr val="9DB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9776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3977640"/>
            <a:ext cx="402336" cy="402336"/>
          </a:xfrm>
          <a:prstGeom prst="rect">
            <a:avLst/>
          </a:prstGeom>
          <a:solidFill>
            <a:srgbClr val="007894"/>
          </a:solidFill>
          <a:ln w="9525">
            <a:solidFill>
              <a:srgbClr val="0078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39776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434840"/>
            <a:ext cx="402336" cy="402336"/>
          </a:xfrm>
          <a:prstGeom prst="rect">
            <a:avLst/>
          </a:prstGeom>
          <a:solidFill>
            <a:srgbClr val="627313"/>
          </a:solidFill>
          <a:ln w="9525">
            <a:solidFill>
              <a:srgbClr val="6273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44348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4434840"/>
            <a:ext cx="402336" cy="402336"/>
          </a:xfrm>
          <a:prstGeom prst="rect">
            <a:avLst/>
          </a:prstGeom>
          <a:solidFill>
            <a:srgbClr val="215CAF"/>
          </a:solidFill>
          <a:ln w="9525">
            <a:solidFill>
              <a:srgbClr val="215C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44348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44348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8920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48920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4892040"/>
            <a:ext cx="402336" cy="402336"/>
          </a:xfrm>
          <a:prstGeom prst="rect">
            <a:avLst/>
          </a:prstGeom>
          <a:solidFill>
            <a:srgbClr val="9DB6D8"/>
          </a:solidFill>
          <a:ln w="9525">
            <a:solidFill>
              <a:srgbClr val="9DB6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48920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4892040"/>
            <a:ext cx="402336" cy="402336"/>
          </a:xfrm>
          <a:prstGeom prst="rect">
            <a:avLst/>
          </a:prstGeom>
          <a:solidFill>
            <a:srgbClr val="8E6713"/>
          </a:solidFill>
          <a:ln w="9525">
            <a:solidFill>
              <a:srgbClr val="8E671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3492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5349240"/>
            <a:ext cx="402336" cy="402336"/>
          </a:xfrm>
          <a:prstGeom prst="rect">
            <a:avLst/>
          </a:prstGeom>
          <a:solidFill>
            <a:srgbClr val="007894"/>
          </a:solidFill>
          <a:ln w="9525">
            <a:solidFill>
              <a:srgbClr val="0078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91640" y="53492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53492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5349240"/>
            <a:ext cx="402336" cy="402336"/>
          </a:xfrm>
          <a:prstGeom prst="rect">
            <a:avLst/>
          </a:prstGeom>
          <a:solidFill>
            <a:srgbClr val="EDF1F6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52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feature 1  →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model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83480" y="22402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semi-isolated populations, each with its own archive. Migrate elites on a ring every N generations. Independent lineages get time to develop before they have to compete.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93792" y="3410712"/>
            <a:ext cx="768096" cy="7680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15C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362102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65392" y="3044952"/>
            <a:ext cx="768096" cy="7680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789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325526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571232" y="4050792"/>
            <a:ext cx="768096" cy="7680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273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426110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25312" y="4645152"/>
            <a:ext cx="768096" cy="7680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67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485546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61888" y="3703320"/>
            <a:ext cx="603504" cy="-182880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269480" y="3703320"/>
            <a:ext cx="411480" cy="457200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635240" y="4709160"/>
            <a:ext cx="-822960" cy="246888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989320" y="4828032"/>
            <a:ext cx="-320040" cy="-621792"/>
          </a:xfrm>
          <a:prstGeom prst="line">
            <a:avLst/>
          </a:prstGeom>
          <a:noFill/>
          <a:ln w="22225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281160" y="1874520"/>
            <a:ext cx="2267712" cy="3794760"/>
          </a:xfrm>
          <a:prstGeom prst="roundRect">
            <a:avLst>
              <a:gd name="adj" fmla="val 241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554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555480" y="246888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Quality-diversity is what turns a greedy hill-climber into an explorer.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archive is also the memory the prompt sampler draws on — diverse elites make better in-context examples than five near-copies of the leader.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MACHINE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is where the search actually happens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58568"/>
            <a:ext cx="128016" cy="128016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020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2002536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to be mutated, in full.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91840"/>
            <a:ext cx="128016" cy="128016"/>
          </a:xfrm>
          <a:prstGeom prst="rect">
            <a:avLst/>
          </a:prstGeom>
          <a:solidFill>
            <a:srgbClr val="007894"/>
          </a:solidFill>
          <a:ln w="12700">
            <a:solidFill>
              <a:srgbClr val="0078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054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30358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top performers plus a few deliberately diverse ones, with their scores attached. The model sees a fitness landscape, not a single example.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325112"/>
            <a:ext cx="128016" cy="128016"/>
          </a:xfrm>
          <a:prstGeom prst="rect">
            <a:avLst/>
          </a:prstGeom>
          <a:solidFill>
            <a:srgbClr val="8E6713"/>
          </a:solidFill>
          <a:ln w="12700">
            <a:solidFill>
              <a:srgbClr val="8E67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087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40690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Stderr, stack traces, profiler output, failed assertions — fed straight back. The model debugs its own previous attempt.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74336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358384"/>
            <a:ext cx="128016" cy="128016"/>
          </a:xfrm>
          <a:prstGeom prst="rect">
            <a:avLst/>
          </a:prstGeom>
          <a:solidFill>
            <a:srgbClr val="627313"/>
          </a:solidFill>
          <a:ln w="12700">
            <a:solidFill>
              <a:srgbClr val="6273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Meta-prompt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510235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template itself is an evolvable object. Prompts that produce good children survive.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1874520"/>
            <a:ext cx="3547872" cy="3730752"/>
          </a:xfrm>
          <a:prstGeom prst="roundRect">
            <a:avLst>
              <a:gd name="adj" fmla="val 2062"/>
            </a:avLst>
          </a:prstGeom>
          <a:solidFill>
            <a:srgbClr val="08407E"/>
          </a:solidFill>
          <a:ln w="12700">
            <a:solidFill>
              <a:srgbClr val="0840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148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levels of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at once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29718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optimises the parameters of a construction and the strategy used to find constructions.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evolved program might combine a hand-rolled heuristic, a SAT solver and a second-order method with no convergence guarantee — a combination no single researcher would have bothered to try.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machinery earn its keep?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AlphaEvolve ablation: remove one component, rerun, compare.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48256"/>
            <a:ext cx="128016" cy="128016"/>
          </a:xfrm>
          <a:prstGeom prst="rect">
            <a:avLst/>
          </a:prstGeom>
          <a:solidFill>
            <a:srgbClr val="B7352D"/>
          </a:solidFill>
          <a:ln w="12700">
            <a:solidFill>
              <a:srgbClr val="B735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9842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independently, never build on past programs. Biggest single loss.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28016" cy="128016"/>
          </a:xfrm>
          <a:prstGeom prst="rect">
            <a:avLst/>
          </a:prstGeom>
          <a:solidFill>
            <a:srgbClr val="B7352D"/>
          </a:solidFill>
          <a:ln w="12700">
            <a:solidFill>
              <a:srgbClr val="B735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 in prompts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7706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scored inspirations. The model stops learning the landscape.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128016" cy="128016"/>
          </a:xfrm>
          <a:prstGeom prst="rect">
            <a:avLst/>
          </a:prstGeom>
          <a:solidFill>
            <a:srgbClr val="8E6713"/>
          </a:solidFill>
          <a:ln w="12700">
            <a:solidFill>
              <a:srgbClr val="8E67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meta-prompt evolution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55701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but consistent degradation.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128016" cy="128016"/>
          </a:xfrm>
          <a:prstGeom prst="rect">
            <a:avLst/>
          </a:prstGeom>
          <a:solidFill>
            <a:srgbClr val="8E6713"/>
          </a:solidFill>
          <a:ln w="12700">
            <a:solidFill>
              <a:srgbClr val="8E67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full-file evolution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43434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a single function, FunSearch-style. Hurts on the harder problems.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93792"/>
            <a:ext cx="128016" cy="128016"/>
          </a:xfrm>
          <a:prstGeom prst="rect">
            <a:avLst/>
          </a:prstGeom>
          <a:solidFill>
            <a:srgbClr val="007894"/>
          </a:solidFill>
          <a:ln w="12700">
            <a:solidFill>
              <a:srgbClr val="0078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11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base model only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512978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models suffice for easy problems; only frontier models solved the ones needing elaborate constructions.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0" y="1920240"/>
            <a:ext cx="3685032" cy="3703320"/>
          </a:xfrm>
          <a:prstGeom prst="roundRect">
            <a:avLst>
              <a:gd name="adj" fmla="val 14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2176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knob nobody expects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83880" y="2788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threads.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threads sharply accelerate time-to-discovery — but at the cost of more total LLM calls for the same result. Wall-clock and budget pull in opposite directions, and you have to pick.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trade-off that decides whether a run is affordable, not the choice of selection operator.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Novikov et al. (2025), ablations on the kissing-number and third autocorrelation problems.  Right: Georgiev, Gómez-Serrano, Tao &amp; Wagner (2025), Fig. 1.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Mathematics: 67 problems, one afternoon each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309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07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Kissing number, 11 dimensions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5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Packing 26 circles, sum of radii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5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2.63586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autocorrelation inequality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5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Heilbronn triangles, n =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5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Erdős minimum overlap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0.380927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5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0.380924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inequality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5C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519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are small. That is the point: they are improvements on records that stood for years, obtained without expertise in the field.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67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25712" y="190195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where the state of the art was improved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67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25712" y="29077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the best known construction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25712" y="391363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setup time per problem, versus months for a bespoke solver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4937760"/>
            <a:ext cx="4233672" cy="1143000"/>
          </a:xfrm>
          <a:prstGeom prst="roundRect">
            <a:avLst>
              <a:gd name="adj" fmla="val 64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510235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Generalizer mode: shown its own optima for small n, the system sometimes writes a construction valid for all n. One such construction, for the Nikodym problem, was human-readable enough to inspire a new Tao paper.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Georgiev, Gómez-Serrano, Tao &amp; Wagner, arXiv:2511.02864. Bounds as reported in Novikov et al. (2025).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results stopped being Google's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months later, the records set by AlphaEvolve are themselves being broken.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11296" cy="3017520"/>
          </a:xfrm>
          <a:prstGeom prst="roundRect">
            <a:avLst>
              <a:gd name="adj" fmla="val 181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Kissing number, d = 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593 → 604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AlphaEvolve's record, beaten on an open agent leaderboard where participants build on each other's submissions.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11296" cy="3017520"/>
          </a:xfrm>
          <a:prstGeom prst="roundRect">
            <a:avLst>
              <a:gd name="adj" fmla="val 181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Ramsey numbers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R(3,17), R(4,15)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tightened for the first time in decades — a domain where each problem's structure differs enough that no single hand-rolled search works.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11296" cy="3017520"/>
          </a:xfrm>
          <a:prstGeom prst="roundRect">
            <a:avLst>
              <a:gd name="adj" fmla="val 181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Erdős problems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tally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3154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wiki now tracks AI contributions problem by problem. AlphaEvolve appears alongside GPT-5.x, Aristotle, AlphaProof and Seed Prover.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6F7F4"/>
          </a:solidFill>
          <a:ln w="12700">
            <a:solidFill>
              <a:srgbClr val="E3E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376672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Tao's caveat, worth repeating verbatim in spirit: these are scattered successes among a large sea of unreported failures — and the systems are best at the long tail of problems that were already within reach of standard techniques.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EinsteinArena (launched March 2026); Erdős problems AI wiki, github.com/teorth/erdosproblems.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that pays for the research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11296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391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5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Google's worldwide compute recovered, continuously, by an evolved Borg scheduling heuristic for stranded resources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11296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0391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36008" y="26243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on a matrix-multiplication kernel inside Gemini's own training stack — about 1% of total training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874520"/>
            <a:ext cx="3511296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20391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39328" y="26243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Spanner write amplification via evolved LSM-tree compaction heuristics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3511296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96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32688" y="46817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variant-detection errors in DeepConsensus DNA sequencing correction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931920"/>
            <a:ext cx="3511296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4096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→ 88%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36008" y="46817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feasible-solution rate for AC optimal power flow, cutting expensive post-processing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931920"/>
            <a:ext cx="3511296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4096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39328" y="46817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on Willow quantum-processor circuits for molecular simulation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327648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AlphaEvolve one-year impact report, May 2026; Novikov et al. (2025). Also reported: a TPU arithmetic-circuit simplification adopted into next-generation silicon.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4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CATCH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slide Google's blog post doesn't have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806440" cy="2377440"/>
          </a:xfrm>
          <a:prstGeom prst="roundRect">
            <a:avLst>
              <a:gd name="adj" fmla="val 3077"/>
            </a:avLst>
          </a:prstGeom>
          <a:solidFill>
            <a:srgbClr val="10508F"/>
          </a:solidFill>
          <a:ln w="12700">
            <a:solidFill>
              <a:srgbClr val="1050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105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"Simple Baselines are Competitive with Code Evolution"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Gideoni, Risi &amp; Gal (Oxford / Sakana), February 2026. Two deliberately dumb baselines match or beat evolutionary pipelines across mathematical bounds, agentic scaffolds and ML competitions.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conclusion: the search space and the domain knowledge in the prompt set the performance ceiling. The evolutionary pipeline is secondary.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1673352"/>
            <a:ext cx="128016" cy="128016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metric, no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1901952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candidate can't be scored automatically in seconds to minutes, none of this applies. That excludes most interesting problems.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788920"/>
            <a:ext cx="128016" cy="128016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715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evaluator is the attack surface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301752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badly designed score gets optimised into a degenerate or trivial solution. Reward hacking, with a fitness function.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3904488"/>
            <a:ext cx="128016" cy="128016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3831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evaluation selects noise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4133088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validation sets plus high variance means you promote lucky programs. Hand-designed baselines then win on the test set.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5020056"/>
            <a:ext cx="128016" cy="128016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4946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produce insight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5248656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witnesses. Problems needing a genuinely new idea remain out of reach.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intellectual work migrated. It did not disappear — it moved from designing the algorithm to designing the search space and the score.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YOUR TURN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problem shaped like this?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questions. One "no" and you want a different tool.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751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candidate be scored automatically?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94767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minutes, no human in the loop, no manual judgement.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98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score honest?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277063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cheap degenerate solution that scores well? Assume it will be found.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210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write down a search space?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35935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 program can output. This is the step that actually needs your expertise.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384048" cy="384048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43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few percent worth it?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441655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deliver small margins reliably. At scale that is money; at n = 1 it is noise.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384048" cy="384048"/>
          </a:xfrm>
          <a:prstGeom prst="rect">
            <a:avLst/>
          </a:prstGeom>
          <a:solidFill>
            <a:srgbClr val="215CAF"/>
          </a:solidFill>
          <a:ln w="12700">
            <a:solidFill>
              <a:srgbClr val="215C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266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a baseline and a held-out set?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9320" y="523951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you cannot tell improvement from overfitting to your own evaluator.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possible experiment: one afternoon, one evaluator, a $20 API budget, and a baseline you already trust.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YOUR TURN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OpenEvolve in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faithful open reimplementation. Three files and a config.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94960" cy="315468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max_iterations: 1000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primary_model:   "&lt;fast, cheap&gt;"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secondary_model: "&lt;slow, strong&gt;"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temperature: 0.7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population_size: 500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num_islands: 5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migration_interval: 20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feature_dimensions: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[complexity, diversity, score]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cascade_evaluation: true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enable_artifacts: true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27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archive · island model with ring migration · artifacts side-channel · cascade evaluation · checkpointing · an evolution-tree visualiser you can click through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7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 evolution, and the distributed evaluator fleet that makes AlphaEvolve's throughput possible. In exchange you get to read every line.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8463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ShinkaEvolve for sample efficiency · CodeEvolve for CVT-MAP-Elites and open-weight backbones · GigaEvo for a modular DAG evaluator · ThetaEvolve for test-time RL on 8B models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4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to keep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8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is a trust-conversion wrapper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89320" y="14996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an unreliable generator into a reliable optimiser. The evaluator does the converting.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8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04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has migrated to problem formulation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9320" y="24140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and score, not selection operators. That work is still human, and still hard.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8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industrialises the long tail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33284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breakthrough — hundreds of small, verified wins, each cheap enough not to need justifying.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8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now infrastructure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89320" y="42428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TPU silicon, in Spanner, in Gemini's training loop, and on a cloud price list since July.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8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48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finds witnesses, not insight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51572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requiring a genuinely new idea is still yours.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questions, then a live run if the network cooperates.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ALLOWS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circle packing, 26 circles in a unit square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the sum of radii. Baseline: 26 identical circles on a grid.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6F7F4"/>
          </a:solidFill>
          <a:ln w="12700">
            <a:solidFill>
              <a:srgbClr val="F6F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122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209397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from a completed run already loaded in a second tab. If the live run stalls, you switch tabs and nobody notices.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307238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initial_program.py and evaluator.py. Point at the EVOLVE-BLOCK markers.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40507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 Narrate the first few generations: the score jumps early, then flattens.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01184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47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50292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evolution tree on the finished checkpoint. Show two islands that found structurally different packings — that is MAP-Elites doing its job, visibly.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3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LLM run in front of an audience is a coin flip. Record it beforehand and play the recording.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327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29184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6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Novikov et al. (2025)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83480" y="169164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AlphaEvolve: A coding agent for scientific and algorithmic discovery. arXiv:2506.13131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Georgiev, Gómez-Serrano, Tao &amp; Wagner (2025)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83480" y="2176272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exploration and discovery at scale. arXiv:2511.02864 — plus the problem repository on GitHub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6609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Romera-Paredes et al. (2024)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83480" y="2660904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discoveries from program search with large language models. Nature 625 (FunSearch)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Gideoni, Risi &amp; Gal (2026)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3145536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Baselines are Competitive with Code Evolution. arXiv:2602.16805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(2025)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3630168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— github.com/algorithmicsuperintelligence/openevolve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et al. (2025) · Assumpção et al. (2025) · Khrulkov et al. (2025)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411480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ShinkaEvolve · CodeEvolve (arXiv:2510.14150) · GigaEvo (arXiv:2511.17592)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599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Mouret &amp; Clune (2015) · Tanese (1989)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4599432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· island-model genetic algorithms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0840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 (May 2026, Jul 2026)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5084064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AlphaEvolve one-year impact report; general availability on Google Cloud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5686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4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Tao (Nov 2025)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5568696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terrytao.wordpress.com — the clearest short explanation of why the loop works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Coding Agents</dc:title>
  <dc:subject>PptxGenJS Presentation</dc:subject>
  <dc:creator>Sanziana</dc:creator>
  <cp:lastModifiedBy>Sanziana</cp:lastModifiedBy>
  <cp:revision>1</cp:revision>
  <dcterms:created xsi:type="dcterms:W3CDTF">2026-08-18T21:51:08Z</dcterms:created>
  <dcterms:modified xsi:type="dcterms:W3CDTF">2026-08-18T21:51:08Z</dcterms:modified>
</cp:coreProperties>
</file>